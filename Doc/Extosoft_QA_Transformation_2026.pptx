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54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Full Stack QA Capability Model. Each person must have foundation across disciplines but deep skill in at least one area. The right panel shows the Quality Pod concept — team can deliver all 4 disciplines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Three critical AI roles. AI Quality Lead (Priority 1) is the most strategic — translates AI capabilities into sellable QA solutions. AI Automation Engineer demonstrates visible productivity gains. Data/QA Analytics creates the evidence and dashboards clients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03: MANUAL TEST – 8 pain points mapped to AI opportunities with expected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04: AUTOMATION TEST – 8 pain points mapped to AI opportunities with expected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05: PERFORMANCE TEST – 8 pain points mapped to AI opportunities with expected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06: SECURITY TEST · OWASP TOP 10 – 8 pain points mapped to AI opportunities with expected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Three-phase transformation roadmap. Q3 2026: Stabilize and repackage. Q4 2026: Replace revenue model. 2027: Build defensible IP. Final positioning as AI-Enabled Quality Operating Partner for regulated industries.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5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645920"/>
            <a:ext cx="5943600" cy="5943600"/>
          </a:xfrm>
          <a:prstGeom prst="ellipse">
            <a:avLst/>
          </a:prstGeom>
          <a:solidFill>
            <a:srgbClr val="0B2F2A"/>
          </a:solidFill>
          <a:ln w="12700">
            <a:solidFill>
              <a:srgbClr val="0B2F2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5943600" y="-914400"/>
            <a:ext cx="4389120" cy="4389120"/>
          </a:xfrm>
          <a:prstGeom prst="ellipse">
            <a:avLst/>
          </a:prstGeom>
          <a:solidFill>
            <a:srgbClr val="0D3D36"/>
          </a:solidFill>
          <a:ln w="12700">
            <a:solidFill>
              <a:srgbClr val="0D3D3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EXTOSOFT  ·  Quality Engineering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5029200" cy="0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QA Model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3566160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2596896" y="35661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Roles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36592" y="3566160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736592" y="35661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76288" y="3566160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6876288" y="35661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Map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Executive Presentation</a:t>
            </a:r>
            <a:endParaRPr lang="en-US" sz="9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548640"/>
            <a:ext cx="2560320" cy="256032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8092440" y="411480"/>
            <a:ext cx="731520" cy="731520"/>
          </a:xfrm>
          <a:prstGeom prst="ellipse">
            <a:avLst/>
          </a:prstGeom>
          <a:solidFill>
            <a:srgbClr val="0F2237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502920"/>
            <a:ext cx="548640" cy="54864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366760" y="2514600"/>
            <a:ext cx="640080" cy="640080"/>
          </a:xfrm>
          <a:prstGeom prst="ellipse">
            <a:avLst/>
          </a:prstGeom>
          <a:solidFill>
            <a:srgbClr val="0F2237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606040"/>
            <a:ext cx="457200" cy="4572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537960" y="3063240"/>
            <a:ext cx="640080" cy="640080"/>
          </a:xfrm>
          <a:prstGeom prst="ellipse">
            <a:avLst/>
          </a:prstGeom>
          <a:solidFill>
            <a:srgbClr val="0F223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154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01  ·  CAPABILITY MODEL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Quality Engineering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ทุกคนมี Foundation ข้ามสาย  ·  แต่ละคน Deep อย่างน้อย 1 ด้าน  ·  ทีมส่งมอบครบทุก Discipline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1691640" cy="713232"/>
          </a:xfrm>
          <a:prstGeom prst="roundRect">
            <a:avLst>
              <a:gd name="adj" fmla="val 11538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256032" y="14630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QA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179222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แยกส่วน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02536" y="15544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49424" y="1389888"/>
            <a:ext cx="1691640" cy="713232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2249424" y="14630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QA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9424" y="179222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ข้ามสายบางส่วน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95928" y="15544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42816" y="1389888"/>
            <a:ext cx="1691640" cy="713232"/>
          </a:xfrm>
          <a:prstGeom prst="roundRect">
            <a:avLst>
              <a:gd name="adj" fmla="val 1153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242816" y="14630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QA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42816" y="179222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Target ✓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1444752"/>
            <a:ext cx="1463040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6080760" y="14447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2026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42432" y="2212848"/>
            <a:ext cx="3218688" cy="2834640"/>
          </a:xfrm>
          <a:prstGeom prst="roundRect">
            <a:avLst>
              <a:gd name="adj" fmla="val 3871"/>
            </a:avLst>
          </a:prstGeom>
          <a:solidFill>
            <a:srgbClr val="13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5742432" y="2304288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42432" y="259689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ส่งมอบได้ครบทุก Discipline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70448" y="2926080"/>
            <a:ext cx="1426464" cy="548640"/>
          </a:xfrm>
          <a:prstGeom prst="roundRect">
            <a:avLst>
              <a:gd name="adj" fmla="val 1333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5870448" y="29260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24928" y="2926080"/>
            <a:ext cx="1426464" cy="548640"/>
          </a:xfrm>
          <a:prstGeom prst="roundRect">
            <a:avLst>
              <a:gd name="adj" fmla="val 13333"/>
            </a:avLst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7424928" y="29260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70448" y="3639312"/>
            <a:ext cx="1426464" cy="548640"/>
          </a:xfrm>
          <a:prstGeom prst="roundRect">
            <a:avLst>
              <a:gd name="adj" fmla="val 13333"/>
            </a:avLst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5870448" y="363931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24928" y="3639312"/>
            <a:ext cx="1426464" cy="548640"/>
          </a:xfrm>
          <a:prstGeom prst="roundRect">
            <a:avLst>
              <a:gd name="adj" fmla="val 13333"/>
            </a:avLst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7424928" y="363931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47091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Skill + Cross Foundation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1168" y="2240280"/>
            <a:ext cx="1737360" cy="1325880"/>
          </a:xfrm>
          <a:prstGeom prst="roundRect">
            <a:avLst>
              <a:gd name="adj" fmla="val 6897"/>
            </a:avLst>
          </a:prstGeom>
          <a:solidFill>
            <a:srgbClr val="132233"/>
          </a:solidFill>
          <a:ln w="12700">
            <a:solidFill>
              <a:srgbClr val="0F2237"/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2" name="Shape 30"/>
          <p:cNvSpPr/>
          <p:nvPr/>
        </p:nvSpPr>
        <p:spPr>
          <a:xfrm>
            <a:off x="292608" y="2313432"/>
            <a:ext cx="365760" cy="36576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2350008"/>
            <a:ext cx="274320" cy="27432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22376" y="23134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292608" y="2724912"/>
            <a:ext cx="1554480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Text 33"/>
          <p:cNvSpPr/>
          <p:nvPr/>
        </p:nvSpPr>
        <p:spPr>
          <a:xfrm>
            <a:off x="292608" y="27706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 Test Design · Domain · Exploratory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292608" y="31272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 API · OWASP · Perf Risk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2011680" y="2240280"/>
            <a:ext cx="1737360" cy="1325880"/>
          </a:xfrm>
          <a:prstGeom prst="roundRect">
            <a:avLst>
              <a:gd name="adj" fmla="val 6897"/>
            </a:avLst>
          </a:prstGeom>
          <a:solidFill>
            <a:srgbClr val="132233"/>
          </a:solidFill>
          <a:ln w="12700">
            <a:solidFill>
              <a:srgbClr val="0F2237"/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9" name="Shape 36"/>
          <p:cNvSpPr/>
          <p:nvPr/>
        </p:nvSpPr>
        <p:spPr>
          <a:xfrm>
            <a:off x="2103120" y="2313432"/>
            <a:ext cx="365760" cy="365760"/>
          </a:xfrm>
          <a:prstGeom prst="ellipse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50008"/>
            <a:ext cx="274320" cy="27432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2532888" y="23134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QA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2103120" y="2724912"/>
            <a:ext cx="1554480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Text 39"/>
          <p:cNvSpPr/>
          <p:nvPr/>
        </p:nvSpPr>
        <p:spPr>
          <a:xfrm>
            <a:off x="2103120" y="27706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 Framework · Scripting · CI/CD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2103120" y="31272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 Manual Design · Perf · Security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3822192" y="2240280"/>
            <a:ext cx="1737360" cy="1325880"/>
          </a:xfrm>
          <a:prstGeom prst="roundRect">
            <a:avLst>
              <a:gd name="adj" fmla="val 6897"/>
            </a:avLst>
          </a:prstGeom>
          <a:solidFill>
            <a:srgbClr val="132233"/>
          </a:solidFill>
          <a:ln w="12700">
            <a:solidFill>
              <a:srgbClr val="0F2237"/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6" name="Shape 42"/>
          <p:cNvSpPr/>
          <p:nvPr/>
        </p:nvSpPr>
        <p:spPr>
          <a:xfrm>
            <a:off x="3913632" y="2313432"/>
            <a:ext cx="365760" cy="365760"/>
          </a:xfrm>
          <a:prstGeom prst="ellipse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352" y="2350008"/>
            <a:ext cx="274320" cy="274320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4343400" y="23134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QA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3913632" y="2724912"/>
            <a:ext cx="1554480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0" name="Text 45"/>
          <p:cNvSpPr/>
          <p:nvPr/>
        </p:nvSpPr>
        <p:spPr>
          <a:xfrm>
            <a:off x="3913632" y="27706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 JMeter/k6 · APM · Bottleneck</a:t>
            </a:r>
            <a:endParaRPr lang="en-US" sz="850" dirty="0"/>
          </a:p>
        </p:txBody>
      </p:sp>
      <p:sp>
        <p:nvSpPr>
          <p:cNvPr id="51" name="Text 46"/>
          <p:cNvSpPr/>
          <p:nvPr/>
        </p:nvSpPr>
        <p:spPr>
          <a:xfrm>
            <a:off x="3913632" y="31272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 API · Automation · Defect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1106424" y="3657600"/>
            <a:ext cx="1737360" cy="1325880"/>
          </a:xfrm>
          <a:prstGeom prst="roundRect">
            <a:avLst>
              <a:gd name="adj" fmla="val 6897"/>
            </a:avLst>
          </a:prstGeom>
          <a:solidFill>
            <a:srgbClr val="132233"/>
          </a:solidFill>
          <a:ln w="12700">
            <a:solidFill>
              <a:srgbClr val="0F2237"/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53" name="Shape 48"/>
          <p:cNvSpPr/>
          <p:nvPr/>
        </p:nvSpPr>
        <p:spPr>
          <a:xfrm>
            <a:off x="1197864" y="3730752"/>
            <a:ext cx="365760" cy="365760"/>
          </a:xfrm>
          <a:prstGeom prst="ellipse">
            <a:avLst/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584" y="3767328"/>
            <a:ext cx="274320" cy="274320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1627632" y="373075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QA</a:t>
            </a:r>
            <a:endParaRPr lang="en-US" sz="1050" dirty="0"/>
          </a:p>
        </p:txBody>
      </p:sp>
      <p:sp>
        <p:nvSpPr>
          <p:cNvPr id="56" name="Shape 50"/>
          <p:cNvSpPr/>
          <p:nvPr/>
        </p:nvSpPr>
        <p:spPr>
          <a:xfrm>
            <a:off x="1197864" y="4142232"/>
            <a:ext cx="1554480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7" name="Text 51"/>
          <p:cNvSpPr/>
          <p:nvPr/>
        </p:nvSpPr>
        <p:spPr>
          <a:xfrm>
            <a:off x="1197864" y="41879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 OWASP Top10 · Vuln · Auth</a:t>
            </a:r>
            <a:endParaRPr lang="en-US" sz="850" dirty="0"/>
          </a:p>
        </p:txBody>
      </p:sp>
      <p:sp>
        <p:nvSpPr>
          <p:cNvPr id="58" name="Text 52"/>
          <p:cNvSpPr/>
          <p:nvPr/>
        </p:nvSpPr>
        <p:spPr>
          <a:xfrm>
            <a:off x="1197864" y="45445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 API · Test Design · Evidence</a:t>
            </a:r>
            <a:endParaRPr lang="en-US" sz="800" dirty="0"/>
          </a:p>
        </p:txBody>
      </p:sp>
      <p:sp>
        <p:nvSpPr>
          <p:cNvPr id="59" name="Shape 53"/>
          <p:cNvSpPr/>
          <p:nvPr/>
        </p:nvSpPr>
        <p:spPr>
          <a:xfrm>
            <a:off x="2916936" y="3657600"/>
            <a:ext cx="1737360" cy="1325880"/>
          </a:xfrm>
          <a:prstGeom prst="roundRect">
            <a:avLst>
              <a:gd name="adj" fmla="val 6897"/>
            </a:avLst>
          </a:prstGeom>
          <a:solidFill>
            <a:srgbClr val="132233"/>
          </a:solidFill>
          <a:ln w="12700">
            <a:solidFill>
              <a:srgbClr val="0F2237"/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0" name="Shape 54"/>
          <p:cNvSpPr/>
          <p:nvPr/>
        </p:nvSpPr>
        <p:spPr>
          <a:xfrm>
            <a:off x="3008376" y="3730752"/>
            <a:ext cx="365760" cy="36576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6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4096" y="3767328"/>
            <a:ext cx="274320" cy="274320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3438144" y="373075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</a:t>
            </a:r>
            <a:endParaRPr lang="en-US" sz="1050" dirty="0"/>
          </a:p>
        </p:txBody>
      </p:sp>
      <p:sp>
        <p:nvSpPr>
          <p:cNvPr id="63" name="Shape 56"/>
          <p:cNvSpPr/>
          <p:nvPr/>
        </p:nvSpPr>
        <p:spPr>
          <a:xfrm>
            <a:off x="3008376" y="4142232"/>
            <a:ext cx="1554480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4" name="Text 57"/>
          <p:cNvSpPr/>
          <p:nvPr/>
        </p:nvSpPr>
        <p:spPr>
          <a:xfrm>
            <a:off x="3008376" y="41879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 Strategy · Risk · Governance</a:t>
            </a:r>
            <a:endParaRPr lang="en-US" sz="850" dirty="0"/>
          </a:p>
        </p:txBody>
      </p:sp>
      <p:sp>
        <p:nvSpPr>
          <p:cNvPr id="65" name="Text 58"/>
          <p:cNvSpPr/>
          <p:nvPr/>
        </p:nvSpPr>
        <p:spPr>
          <a:xfrm>
            <a:off x="3008376" y="45445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 All domains oversight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20040" y="137160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0F2237"/>
          </a:solidFill>
          <a:ln w="12700">
            <a:solidFill>
              <a:srgbClr val="0F22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 ·  AI-ENHANCED ROLES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43891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Critical AI Roles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43891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 AI เข้าสู่ QA Stack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05840"/>
            <a:ext cx="9144000" cy="36576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ไม่แทนที่ QA   ·   แต่ QA ที่ไม่ใช้ AI จะถูก QA ที่ใช้ AI แทนที่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2743200" cy="3401568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  <a:effectLst>
            <a:outerShdw blurRad="1778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2743200" cy="347472"/>
          </a:xfrm>
          <a:prstGeom prst="roundRect">
            <a:avLst>
              <a:gd name="adj" fmla="val 3157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274320" y="1709928"/>
            <a:ext cx="274320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84048" y="15727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#1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14600" y="15453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11480" y="1984248"/>
            <a:ext cx="640080" cy="640080"/>
          </a:xfrm>
          <a:prstGeom prst="ellipse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75688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1984248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Lead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84048" y="2697480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5"/>
          <p:cNvSpPr/>
          <p:nvPr/>
        </p:nvSpPr>
        <p:spPr>
          <a:xfrm>
            <a:off x="438912" y="2697480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แปลง AI → QA Solution ที่ขายได้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84048" y="322783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DUTIES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02336" y="355701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8"/>
          <p:cNvSpPr/>
          <p:nvPr/>
        </p:nvSpPr>
        <p:spPr>
          <a:xfrm>
            <a:off x="548640" y="349300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 AI QA Strategy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02336" y="398678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0"/>
          <p:cNvSpPr/>
          <p:nvPr/>
        </p:nvSpPr>
        <p:spPr>
          <a:xfrm>
            <a:off x="548640" y="392277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 Service Package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02336" y="441655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2"/>
          <p:cNvSpPr/>
          <p:nvPr/>
        </p:nvSpPr>
        <p:spPr>
          <a:xfrm>
            <a:off x="548640" y="435254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Business → Delivery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218688" y="1508760"/>
            <a:ext cx="2743200" cy="3401568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 w="12700">
            <a:solidFill>
              <a:srgbClr val="6366F1"/>
            </a:solidFill>
            <a:prstDash val="solid"/>
          </a:ln>
          <a:effectLst>
            <a:outerShdw blurRad="1778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7" name="Shape 24"/>
          <p:cNvSpPr/>
          <p:nvPr/>
        </p:nvSpPr>
        <p:spPr>
          <a:xfrm>
            <a:off x="3218688" y="1508760"/>
            <a:ext cx="2743200" cy="347472"/>
          </a:xfrm>
          <a:prstGeom prst="roundRect">
            <a:avLst>
              <a:gd name="adj" fmla="val 31579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Shape 25"/>
          <p:cNvSpPr/>
          <p:nvPr/>
        </p:nvSpPr>
        <p:spPr>
          <a:xfrm>
            <a:off x="3218688" y="1709928"/>
            <a:ext cx="2743200" cy="14630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6"/>
          <p:cNvSpPr/>
          <p:nvPr/>
        </p:nvSpPr>
        <p:spPr>
          <a:xfrm>
            <a:off x="3328416" y="15727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#2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58968" y="15453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3355848" y="1984248"/>
            <a:ext cx="640080" cy="640080"/>
          </a:xfrm>
          <a:prstGeom prst="ellipse">
            <a:avLst/>
          </a:prstGeom>
          <a:solidFill>
            <a:srgbClr val="6366F1">
              <a:alpha val="7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2075688"/>
            <a:ext cx="457200" cy="4572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087368" y="1984248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Engineer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3328416" y="2697480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1"/>
          <p:cNvSpPr/>
          <p:nvPr/>
        </p:nvSpPr>
        <p:spPr>
          <a:xfrm>
            <a:off x="3383280" y="2697480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 Demo &amp; Productivity Gain ให้เห็นจริง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3328416" y="322783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DUTIES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346704" y="3557016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Text 34"/>
          <p:cNvSpPr/>
          <p:nvPr/>
        </p:nvSpPr>
        <p:spPr>
          <a:xfrm>
            <a:off x="3493008" y="349300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Test Gen Tools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3346704" y="3986784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0" name="Text 36"/>
          <p:cNvSpPr/>
          <p:nvPr/>
        </p:nvSpPr>
        <p:spPr>
          <a:xfrm>
            <a:off x="3493008" y="392277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AI Integration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3346704" y="4416552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Text 38"/>
          <p:cNvSpPr/>
          <p:nvPr/>
        </p:nvSpPr>
        <p:spPr>
          <a:xfrm>
            <a:off x="3493008" y="435254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Metrics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6163056" y="1508760"/>
            <a:ext cx="2743200" cy="3401568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 w="12700">
            <a:solidFill>
              <a:srgbClr val="F97316"/>
            </a:solidFill>
            <a:prstDash val="solid"/>
          </a:ln>
          <a:effectLst>
            <a:outerShdw blurRad="1778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4" name="Shape 40"/>
          <p:cNvSpPr/>
          <p:nvPr/>
        </p:nvSpPr>
        <p:spPr>
          <a:xfrm>
            <a:off x="6163056" y="1508760"/>
            <a:ext cx="2743200" cy="347472"/>
          </a:xfrm>
          <a:prstGeom prst="roundRect">
            <a:avLst>
              <a:gd name="adj" fmla="val 3157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5" name="Shape 41"/>
          <p:cNvSpPr/>
          <p:nvPr/>
        </p:nvSpPr>
        <p:spPr>
          <a:xfrm>
            <a:off x="6163056" y="1709928"/>
            <a:ext cx="2743200" cy="1463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6" name="Text 42"/>
          <p:cNvSpPr/>
          <p:nvPr/>
        </p:nvSpPr>
        <p:spPr>
          <a:xfrm>
            <a:off x="6272784" y="15727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#3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8403336" y="15453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48" name="Shape 44"/>
          <p:cNvSpPr/>
          <p:nvPr/>
        </p:nvSpPr>
        <p:spPr>
          <a:xfrm>
            <a:off x="6300216" y="1984248"/>
            <a:ext cx="640080" cy="640080"/>
          </a:xfrm>
          <a:prstGeom prst="ellipse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2075688"/>
            <a:ext cx="457200" cy="457200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7031736" y="1984248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QA Analytics Eng.</a:t>
            </a:r>
            <a:endParaRPr lang="en-US" sz="1400" dirty="0"/>
          </a:p>
        </p:txBody>
      </p:sp>
      <p:sp>
        <p:nvSpPr>
          <p:cNvPr id="51" name="Shape 46"/>
          <p:cNvSpPr/>
          <p:nvPr/>
        </p:nvSpPr>
        <p:spPr>
          <a:xfrm>
            <a:off x="6272784" y="2697480"/>
            <a:ext cx="2523744" cy="438912"/>
          </a:xfrm>
          <a:prstGeom prst="roundRect">
            <a:avLst>
              <a:gd name="adj" fmla="val 12500"/>
            </a:avLst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2" name="Text 47"/>
          <p:cNvSpPr/>
          <p:nvPr/>
        </p:nvSpPr>
        <p:spPr>
          <a:xfrm>
            <a:off x="6327648" y="2697480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Metrics · Evidence · Control Tower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6272784" y="322783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DUTIES</a:t>
            </a:r>
            <a:endParaRPr lang="en-US" sz="800" dirty="0"/>
          </a:p>
        </p:txBody>
      </p:sp>
      <p:sp>
        <p:nvSpPr>
          <p:cNvPr id="54" name="Shape 49"/>
          <p:cNvSpPr/>
          <p:nvPr/>
        </p:nvSpPr>
        <p:spPr>
          <a:xfrm>
            <a:off x="6291072" y="355701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5" name="Text 50"/>
          <p:cNvSpPr/>
          <p:nvPr/>
        </p:nvSpPr>
        <p:spPr>
          <a:xfrm>
            <a:off x="6437376" y="349300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Risk Dashboard</a:t>
            </a:r>
            <a:endParaRPr lang="en-US" sz="1050" dirty="0"/>
          </a:p>
        </p:txBody>
      </p:sp>
      <p:sp>
        <p:nvSpPr>
          <p:cNvPr id="56" name="Shape 51"/>
          <p:cNvSpPr/>
          <p:nvPr/>
        </p:nvSpPr>
        <p:spPr>
          <a:xfrm>
            <a:off x="6291072" y="3986784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7" name="Text 52"/>
          <p:cNvSpPr/>
          <p:nvPr/>
        </p:nvSpPr>
        <p:spPr>
          <a:xfrm>
            <a:off x="6437376" y="392277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KPI Reporting</a:t>
            </a:r>
            <a:endParaRPr lang="en-US" sz="1050" dirty="0"/>
          </a:p>
        </p:txBody>
      </p:sp>
      <p:sp>
        <p:nvSpPr>
          <p:cNvPr id="58" name="Shape 53"/>
          <p:cNvSpPr/>
          <p:nvPr/>
        </p:nvSpPr>
        <p:spPr>
          <a:xfrm>
            <a:off x="6291072" y="441655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9" name="Text 54"/>
          <p:cNvSpPr/>
          <p:nvPr/>
        </p:nvSpPr>
        <p:spPr>
          <a:xfrm>
            <a:off x="6437376" y="435254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for QA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228600" y="128016"/>
            <a:ext cx="594360" cy="594360"/>
          </a:xfrm>
          <a:prstGeom prst="ellipse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92024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731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60120" y="45720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  →  AI OPPORTUNITY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863840" y="2743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/>
          <p:nvPr/>
        </p:nvSpPr>
        <p:spPr>
          <a:xfrm>
            <a:off x="7863840" y="274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37160" y="868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246120" y="868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812280" y="868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9728" y="1161288"/>
            <a:ext cx="8924544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0"/>
          <p:cNvSpPr/>
          <p:nvPr/>
        </p:nvSpPr>
        <p:spPr>
          <a:xfrm>
            <a:off x="73152" y="1188720"/>
            <a:ext cx="8997696" cy="492061"/>
          </a:xfrm>
          <a:prstGeom prst="rect">
            <a:avLst/>
          </a:prstGeom>
          <a:solidFill>
            <a:srgbClr val="101F30"/>
          </a:solidFill>
          <a:ln w="12700">
            <a:solidFill>
              <a:srgbClr val="101F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1"/>
          <p:cNvSpPr/>
          <p:nvPr/>
        </p:nvSpPr>
        <p:spPr>
          <a:xfrm>
            <a:off x="137160" y="1242727"/>
            <a:ext cx="384048" cy="38404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" y="1288447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" y="1207008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/ Jira ไม่ชัด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18688" y="1261872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4"/>
          <p:cNvSpPr/>
          <p:nvPr/>
        </p:nvSpPr>
        <p:spPr>
          <a:xfrm>
            <a:off x="3291840" y="1207008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วิเคราะห์ Story → หา Ambiguity &amp; Missing Requirement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784848" y="1261872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6"/>
          <p:cNvSpPr/>
          <p:nvPr/>
        </p:nvSpPr>
        <p:spPr>
          <a:xfrm>
            <a:off x="6858000" y="1297591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7"/>
          <p:cNvSpPr/>
          <p:nvPr/>
        </p:nvSpPr>
        <p:spPr>
          <a:xfrm>
            <a:off x="6858000" y="129759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 Rework จาก QA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137160" y="1734788"/>
            <a:ext cx="384048" cy="38404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4" y="178050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94360" y="1699070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ใช้เวลานาน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218688" y="1753934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1"/>
          <p:cNvSpPr/>
          <p:nvPr/>
        </p:nvSpPr>
        <p:spPr>
          <a:xfrm>
            <a:off x="3291840" y="1699070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Generate Test Case จาก Jira, BRD, Figma, API Spec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784848" y="1753934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Shape 23"/>
          <p:cNvSpPr/>
          <p:nvPr/>
        </p:nvSpPr>
        <p:spPr>
          <a:xfrm>
            <a:off x="6858000" y="1789652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4"/>
          <p:cNvSpPr/>
          <p:nvPr/>
        </p:nvSpPr>
        <p:spPr>
          <a:xfrm>
            <a:off x="6858000" y="17896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เร็วขึ้น 5–10×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73152" y="2172843"/>
            <a:ext cx="8997696" cy="492061"/>
          </a:xfrm>
          <a:prstGeom prst="rect">
            <a:avLst/>
          </a:prstGeom>
          <a:solidFill>
            <a:srgbClr val="101F30"/>
          </a:solidFill>
          <a:ln w="12700">
            <a:solidFill>
              <a:srgbClr val="101F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6"/>
          <p:cNvSpPr/>
          <p:nvPr/>
        </p:nvSpPr>
        <p:spPr>
          <a:xfrm>
            <a:off x="137160" y="2226850"/>
            <a:ext cx="384048" cy="38404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" y="227257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94360" y="2191131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Backlinks / Traceability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218688" y="2245995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29"/>
          <p:cNvSpPr/>
          <p:nvPr/>
        </p:nvSpPr>
        <p:spPr>
          <a:xfrm>
            <a:off x="3291840" y="2191131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สร้าง Requirement-to-Test Link อัตโนมัติ + Backlink Map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6784848" y="2245995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Shape 31"/>
          <p:cNvSpPr/>
          <p:nvPr/>
        </p:nvSpPr>
        <p:spPr>
          <a:xfrm>
            <a:off x="6858000" y="2281714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Text 32"/>
          <p:cNvSpPr/>
          <p:nvPr/>
        </p:nvSpPr>
        <p:spPr>
          <a:xfrm>
            <a:off x="6858000" y="228171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ชัดขึ้น 100%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137160" y="2718911"/>
            <a:ext cx="384048" cy="38404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024" y="2764631"/>
            <a:ext cx="274320" cy="2743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94360" y="2683193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Graph View / Pattern Insight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3218688" y="2738057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Text 36"/>
          <p:cNvSpPr/>
          <p:nvPr/>
        </p:nvSpPr>
        <p:spPr>
          <a:xfrm>
            <a:off x="3291840" y="2683193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สร้าง Test Case Network Graph → เห็น Pattern &amp; Gap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6784848" y="2738057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5" name="Shape 38"/>
          <p:cNvSpPr/>
          <p:nvPr/>
        </p:nvSpPr>
        <p:spPr>
          <a:xfrm>
            <a:off x="6858000" y="2773775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6" name="Text 39"/>
          <p:cNvSpPr/>
          <p:nvPr/>
        </p:nvSpPr>
        <p:spPr>
          <a:xfrm>
            <a:off x="6858000" y="2773775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พบ Missing Case เร็วขึ้น</a:t>
            </a:r>
            <a:endParaRPr lang="en-US" sz="850" dirty="0"/>
          </a:p>
        </p:txBody>
      </p:sp>
      <p:sp>
        <p:nvSpPr>
          <p:cNvPr id="47" name="Shape 40"/>
          <p:cNvSpPr/>
          <p:nvPr/>
        </p:nvSpPr>
        <p:spPr>
          <a:xfrm>
            <a:off x="73152" y="3156966"/>
            <a:ext cx="8997696" cy="492061"/>
          </a:xfrm>
          <a:prstGeom prst="rect">
            <a:avLst/>
          </a:prstGeom>
          <a:solidFill>
            <a:srgbClr val="101F30"/>
          </a:solidFill>
          <a:ln w="12700">
            <a:solidFill>
              <a:srgbClr val="101F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8" name="Shape 41"/>
          <p:cNvSpPr/>
          <p:nvPr/>
        </p:nvSpPr>
        <p:spPr>
          <a:xfrm>
            <a:off x="137160" y="3210973"/>
            <a:ext cx="384048" cy="38404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024" y="3256693"/>
            <a:ext cx="274320" cy="27432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594360" y="3175254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Table / List / Map View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3218688" y="3230118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2" name="Text 44"/>
          <p:cNvSpPr/>
          <p:nvPr/>
        </p:nvSpPr>
        <p:spPr>
          <a:xfrm>
            <a:off x="3291840" y="3175254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จัดกลุ่ม กรอง แสดงผล Test Case เป็น Table / List / Map</a:t>
            </a:r>
            <a:endParaRPr lang="en-US" sz="950" dirty="0"/>
          </a:p>
        </p:txBody>
      </p:sp>
      <p:sp>
        <p:nvSpPr>
          <p:cNvPr id="53" name="Shape 45"/>
          <p:cNvSpPr/>
          <p:nvPr/>
        </p:nvSpPr>
        <p:spPr>
          <a:xfrm>
            <a:off x="6784848" y="3230118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Shape 46"/>
          <p:cNvSpPr/>
          <p:nvPr/>
        </p:nvSpPr>
        <p:spPr>
          <a:xfrm>
            <a:off x="6858000" y="3265837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5" name="Text 47"/>
          <p:cNvSpPr/>
          <p:nvPr/>
        </p:nvSpPr>
        <p:spPr>
          <a:xfrm>
            <a:off x="6858000" y="3265837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สื่อสารกับ Stakeholder ได้ดีขึ้น</a:t>
            </a:r>
            <a:endParaRPr lang="en-US" sz="850" dirty="0"/>
          </a:p>
        </p:txBody>
      </p:sp>
      <p:sp>
        <p:nvSpPr>
          <p:cNvPr id="56" name="Shape 48"/>
          <p:cNvSpPr/>
          <p:nvPr/>
        </p:nvSpPr>
        <p:spPr>
          <a:xfrm>
            <a:off x="137160" y="3703034"/>
            <a:ext cx="384048" cy="38404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024" y="3748754"/>
            <a:ext cx="274320" cy="274320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594360" y="3667316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Infinite Canvas / Whiteboard</a:t>
            </a:r>
            <a:endParaRPr lang="en-US" sz="1000" dirty="0"/>
          </a:p>
        </p:txBody>
      </p:sp>
      <p:sp>
        <p:nvSpPr>
          <p:cNvPr id="59" name="Shape 50"/>
          <p:cNvSpPr/>
          <p:nvPr/>
        </p:nvSpPr>
        <p:spPr>
          <a:xfrm>
            <a:off x="3218688" y="3722179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0" name="Text 51"/>
          <p:cNvSpPr/>
          <p:nvPr/>
        </p:nvSpPr>
        <p:spPr>
          <a:xfrm>
            <a:off x="3291840" y="3667316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ลาก Card, Note, PDF, วิดีโอ มาจัดเรียง โยงเส้น Visual</a:t>
            </a:r>
            <a:endParaRPr lang="en-US" sz="950" dirty="0"/>
          </a:p>
        </p:txBody>
      </p:sp>
      <p:sp>
        <p:nvSpPr>
          <p:cNvPr id="61" name="Shape 52"/>
          <p:cNvSpPr/>
          <p:nvPr/>
        </p:nvSpPr>
        <p:spPr>
          <a:xfrm>
            <a:off x="6784848" y="3722179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2" name="Shape 53"/>
          <p:cNvSpPr/>
          <p:nvPr/>
        </p:nvSpPr>
        <p:spPr>
          <a:xfrm>
            <a:off x="6858000" y="3757898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3" name="Text 54"/>
          <p:cNvSpPr/>
          <p:nvPr/>
        </p:nvSpPr>
        <p:spPr>
          <a:xfrm>
            <a:off x="6858000" y="375789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Planning ชัดขึ้น</a:t>
            </a:r>
            <a:endParaRPr lang="en-US" sz="850" dirty="0"/>
          </a:p>
        </p:txBody>
      </p:sp>
      <p:sp>
        <p:nvSpPr>
          <p:cNvPr id="64" name="Shape 55"/>
          <p:cNvSpPr/>
          <p:nvPr/>
        </p:nvSpPr>
        <p:spPr>
          <a:xfrm>
            <a:off x="73152" y="4141089"/>
            <a:ext cx="8997696" cy="492061"/>
          </a:xfrm>
          <a:prstGeom prst="rect">
            <a:avLst/>
          </a:prstGeom>
          <a:solidFill>
            <a:srgbClr val="101F30"/>
          </a:solidFill>
          <a:ln w="12700">
            <a:solidFill>
              <a:srgbClr val="101F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5" name="Shape 56"/>
          <p:cNvSpPr/>
          <p:nvPr/>
        </p:nvSpPr>
        <p:spPr>
          <a:xfrm>
            <a:off x="137160" y="4195096"/>
            <a:ext cx="384048" cy="38404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6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2024" y="4240816"/>
            <a:ext cx="274320" cy="274320"/>
          </a:xfrm>
          <a:prstGeom prst="rect">
            <a:avLst/>
          </a:prstGeom>
        </p:spPr>
      </p:pic>
      <p:sp>
        <p:nvSpPr>
          <p:cNvPr id="67" name="Text 57"/>
          <p:cNvSpPr/>
          <p:nvPr/>
        </p:nvSpPr>
        <p:spPr>
          <a:xfrm>
            <a:off x="594360" y="4159377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ขาด Edge / Negative / Security Case</a:t>
            </a:r>
            <a:r>
              <a:rPr lang="th-TH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Test Suite  / End to End</a:t>
            </a:r>
            <a:endParaRPr lang="en-US" sz="1000" dirty="0"/>
          </a:p>
        </p:txBody>
      </p:sp>
      <p:sp>
        <p:nvSpPr>
          <p:cNvPr id="68" name="Shape 58"/>
          <p:cNvSpPr/>
          <p:nvPr/>
        </p:nvSpPr>
        <p:spPr>
          <a:xfrm>
            <a:off x="3218688" y="4214241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9" name="Text 59"/>
          <p:cNvSpPr/>
          <p:nvPr/>
        </p:nvSpPr>
        <p:spPr>
          <a:xfrm>
            <a:off x="3291840" y="4159377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Suggest Negative, Edge, Test Suite, E2E Abuse &amp; Permission Cases</a:t>
            </a:r>
            <a:endParaRPr lang="en-US" sz="950" dirty="0"/>
          </a:p>
        </p:txBody>
      </p:sp>
      <p:sp>
        <p:nvSpPr>
          <p:cNvPr id="70" name="Shape 60"/>
          <p:cNvSpPr/>
          <p:nvPr/>
        </p:nvSpPr>
        <p:spPr>
          <a:xfrm>
            <a:off x="6784848" y="4214241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1" name="Shape 61"/>
          <p:cNvSpPr/>
          <p:nvPr/>
        </p:nvSpPr>
        <p:spPr>
          <a:xfrm>
            <a:off x="6858000" y="4249960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2" name="Text 62"/>
          <p:cNvSpPr/>
          <p:nvPr/>
        </p:nvSpPr>
        <p:spPr>
          <a:xfrm>
            <a:off x="6858000" y="4249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 Defect หลุด Production</a:t>
            </a:r>
            <a:endParaRPr lang="en-US" sz="850" dirty="0"/>
          </a:p>
        </p:txBody>
      </p:sp>
      <p:sp>
        <p:nvSpPr>
          <p:cNvPr id="73" name="Shape 63"/>
          <p:cNvSpPr/>
          <p:nvPr/>
        </p:nvSpPr>
        <p:spPr>
          <a:xfrm>
            <a:off x="137160" y="4687157"/>
            <a:ext cx="384048" cy="38404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7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2024" y="4732877"/>
            <a:ext cx="274320" cy="274320"/>
          </a:xfrm>
          <a:prstGeom prst="rect">
            <a:avLst/>
          </a:prstGeom>
        </p:spPr>
      </p:pic>
      <p:sp>
        <p:nvSpPr>
          <p:cNvPr id="75" name="Text 64"/>
          <p:cNvSpPr/>
          <p:nvPr/>
        </p:nvSpPr>
        <p:spPr>
          <a:xfrm>
            <a:off x="594360" y="4651439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Risk มองไม่เห็น</a:t>
            </a:r>
            <a:endParaRPr lang="en-US" sz="1000" dirty="0"/>
          </a:p>
        </p:txBody>
      </p:sp>
      <p:sp>
        <p:nvSpPr>
          <p:cNvPr id="76" name="Shape 65"/>
          <p:cNvSpPr/>
          <p:nvPr/>
        </p:nvSpPr>
        <p:spPr>
          <a:xfrm>
            <a:off x="3218688" y="4706303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7" name="Text 66"/>
          <p:cNvSpPr/>
          <p:nvPr/>
        </p:nvSpPr>
        <p:spPr>
          <a:xfrm>
            <a:off x="3291840" y="4651439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สรุป Release Readiness Score 0–100 พร้อม Recommendation</a:t>
            </a:r>
            <a:endParaRPr lang="en-US" sz="950" dirty="0"/>
          </a:p>
        </p:txBody>
      </p:sp>
      <p:sp>
        <p:nvSpPr>
          <p:cNvPr id="78" name="Shape 67"/>
          <p:cNvSpPr/>
          <p:nvPr/>
        </p:nvSpPr>
        <p:spPr>
          <a:xfrm>
            <a:off x="6784848" y="4706303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9" name="Shape 68"/>
          <p:cNvSpPr/>
          <p:nvPr/>
        </p:nvSpPr>
        <p:spPr>
          <a:xfrm>
            <a:off x="6858000" y="4742021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0" name="Text 69"/>
          <p:cNvSpPr/>
          <p:nvPr/>
        </p:nvSpPr>
        <p:spPr>
          <a:xfrm>
            <a:off x="6858000" y="474202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ชัดเจน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228600" y="128016"/>
            <a:ext cx="594360" cy="594360"/>
          </a:xfrm>
          <a:prstGeom prst="ellipse">
            <a:avLst/>
          </a:prstGeom>
          <a:solidFill>
            <a:srgbClr val="6366F1">
              <a:alpha val="75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92024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731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TEST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60120" y="45720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  →  AI OPPORTUNITY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863840" y="2743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/>
          <p:nvPr/>
        </p:nvSpPr>
        <p:spPr>
          <a:xfrm>
            <a:off x="7863840" y="274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37160" y="868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246120" y="868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812280" y="868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9728" y="1161288"/>
            <a:ext cx="8924544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0"/>
          <p:cNvSpPr/>
          <p:nvPr/>
        </p:nvSpPr>
        <p:spPr>
          <a:xfrm>
            <a:off x="73152" y="1188720"/>
            <a:ext cx="8997696" cy="492061"/>
          </a:xfrm>
          <a:prstGeom prst="rect">
            <a:avLst/>
          </a:prstGeom>
          <a:solidFill>
            <a:srgbClr val="101F30"/>
          </a:solidFill>
          <a:ln w="12700">
            <a:solidFill>
              <a:srgbClr val="101F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1"/>
          <p:cNvSpPr/>
          <p:nvPr/>
        </p:nvSpPr>
        <p:spPr>
          <a:xfrm>
            <a:off x="137160" y="1242727"/>
            <a:ext cx="384048" cy="384048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" y="1288447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" y="1207008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Launch → Auto-generate Script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18688" y="1261872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4"/>
          <p:cNvSpPr/>
          <p:nvPr/>
        </p:nvSpPr>
        <p:spPr>
          <a:xfrm>
            <a:off x="3291840" y="1207008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Explore Web/API แล้ว Generate Script (Robot/Playwright) + Apply Company Framework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784848" y="1261872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6"/>
          <p:cNvSpPr/>
          <p:nvPr/>
        </p:nvSpPr>
        <p:spPr>
          <a:xfrm>
            <a:off x="6858000" y="1297591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7"/>
          <p:cNvSpPr/>
          <p:nvPr/>
        </p:nvSpPr>
        <p:spPr>
          <a:xfrm>
            <a:off x="6858000" y="129759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Script Time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137160" y="1734788"/>
            <a:ext cx="384048" cy="384048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4" y="178050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94360" y="1699070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เริ่ม Automation ช้า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218688" y="1753934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1"/>
          <p:cNvSpPr/>
          <p:nvPr/>
        </p:nvSpPr>
        <p:spPr>
          <a:xfrm>
            <a:off x="3291840" y="1699070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สร้าง Skeleton จาก Jira / Figma / API Spec ก่อน App เสร็จ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784848" y="1753934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Shape 23"/>
          <p:cNvSpPr/>
          <p:nvPr/>
        </p:nvSpPr>
        <p:spPr>
          <a:xfrm>
            <a:off x="6858000" y="1789652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4"/>
          <p:cNvSpPr/>
          <p:nvPr/>
        </p:nvSpPr>
        <p:spPr>
          <a:xfrm>
            <a:off x="6858000" y="17896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เริ่มได้ทันที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73152" y="2172843"/>
            <a:ext cx="8997696" cy="492061"/>
          </a:xfrm>
          <a:prstGeom prst="rect">
            <a:avLst/>
          </a:prstGeom>
          <a:solidFill>
            <a:srgbClr val="101F30"/>
          </a:solidFill>
          <a:ln w="12700">
            <a:solidFill>
              <a:srgbClr val="101F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6"/>
          <p:cNvSpPr/>
          <p:nvPr/>
        </p:nvSpPr>
        <p:spPr>
          <a:xfrm>
            <a:off x="137160" y="2226850"/>
            <a:ext cx="384048" cy="384048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" y="227257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94360" y="2191131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พังเมื่อ UI เปลี่ยน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218688" y="2245995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29"/>
          <p:cNvSpPr/>
          <p:nvPr/>
        </p:nvSpPr>
        <p:spPr>
          <a:xfrm>
            <a:off x="3291840" y="2191131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Suggest Locator Strategy + Self-Healing Candidate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6784848" y="2245995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Shape 31"/>
          <p:cNvSpPr/>
          <p:nvPr/>
        </p:nvSpPr>
        <p:spPr>
          <a:xfrm>
            <a:off x="6858000" y="2281714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Text 32"/>
          <p:cNvSpPr/>
          <p:nvPr/>
        </p:nvSpPr>
        <p:spPr>
          <a:xfrm>
            <a:off x="6858000" y="228171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 Flakiness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137160" y="2718911"/>
            <a:ext cx="384048" cy="384048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024" y="2764631"/>
            <a:ext cx="274320" cy="2743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94360" y="2683193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ไม่มาตรฐาน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3218688" y="2738057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Text 36"/>
          <p:cNvSpPr/>
          <p:nvPr/>
        </p:nvSpPr>
        <p:spPr>
          <a:xfrm>
            <a:off x="3291840" y="2683193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แนะนำ Framework Structure &amp; Coding Standard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6784848" y="2738057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5" name="Shape 38"/>
          <p:cNvSpPr/>
          <p:nvPr/>
        </p:nvSpPr>
        <p:spPr>
          <a:xfrm>
            <a:off x="6858000" y="2773775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6" name="Text 39"/>
          <p:cNvSpPr/>
          <p:nvPr/>
        </p:nvSpPr>
        <p:spPr>
          <a:xfrm>
            <a:off x="6858000" y="2773775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ง่ายขึ้น</a:t>
            </a:r>
            <a:endParaRPr lang="en-US" sz="850" dirty="0"/>
          </a:p>
        </p:txBody>
      </p:sp>
      <p:sp>
        <p:nvSpPr>
          <p:cNvPr id="47" name="Shape 40"/>
          <p:cNvSpPr/>
          <p:nvPr/>
        </p:nvSpPr>
        <p:spPr>
          <a:xfrm>
            <a:off x="73152" y="3156966"/>
            <a:ext cx="8997696" cy="492061"/>
          </a:xfrm>
          <a:prstGeom prst="rect">
            <a:avLst/>
          </a:prstGeom>
          <a:solidFill>
            <a:srgbClr val="101F30"/>
          </a:solidFill>
          <a:ln w="12700">
            <a:solidFill>
              <a:srgbClr val="101F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8" name="Shape 41"/>
          <p:cNvSpPr/>
          <p:nvPr/>
        </p:nvSpPr>
        <p:spPr>
          <a:xfrm>
            <a:off x="137160" y="3210973"/>
            <a:ext cx="384048" cy="384048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024" y="3256693"/>
            <a:ext cx="274320" cy="27432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594360" y="3175254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 สูง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3218688" y="3230118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2" name="Text 44"/>
          <p:cNvSpPr/>
          <p:nvPr/>
        </p:nvSpPr>
        <p:spPr>
          <a:xfrm>
            <a:off x="3291840" y="3175254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วิเคราะห์ Failed Script และเสนอ Fix อัตโนมัติ</a:t>
            </a:r>
            <a:endParaRPr lang="en-US" sz="950" dirty="0"/>
          </a:p>
        </p:txBody>
      </p:sp>
      <p:sp>
        <p:nvSpPr>
          <p:cNvPr id="53" name="Shape 45"/>
          <p:cNvSpPr/>
          <p:nvPr/>
        </p:nvSpPr>
        <p:spPr>
          <a:xfrm>
            <a:off x="6784848" y="3230118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Shape 46"/>
          <p:cNvSpPr/>
          <p:nvPr/>
        </p:nvSpPr>
        <p:spPr>
          <a:xfrm>
            <a:off x="6858000" y="3265837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5" name="Text 47"/>
          <p:cNvSpPr/>
          <p:nvPr/>
        </p:nvSpPr>
        <p:spPr>
          <a:xfrm>
            <a:off x="6858000" y="3265837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 Cost 40–60%</a:t>
            </a:r>
            <a:endParaRPr lang="en-US" sz="850" dirty="0"/>
          </a:p>
        </p:txBody>
      </p:sp>
      <p:sp>
        <p:nvSpPr>
          <p:cNvPr id="56" name="Shape 48"/>
          <p:cNvSpPr/>
          <p:nvPr/>
        </p:nvSpPr>
        <p:spPr>
          <a:xfrm>
            <a:off x="137160" y="3703034"/>
            <a:ext cx="384048" cy="384048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024" y="3748754"/>
            <a:ext cx="274320" cy="274320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594360" y="3667316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Automation ไม่ชัด</a:t>
            </a:r>
            <a:endParaRPr lang="en-US" sz="1000" dirty="0"/>
          </a:p>
        </p:txBody>
      </p:sp>
      <p:sp>
        <p:nvSpPr>
          <p:cNvPr id="59" name="Shape 50"/>
          <p:cNvSpPr/>
          <p:nvPr/>
        </p:nvSpPr>
        <p:spPr>
          <a:xfrm>
            <a:off x="3218688" y="3722179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0" name="Text 51"/>
          <p:cNvSpPr/>
          <p:nvPr/>
        </p:nvSpPr>
        <p:spPr>
          <a:xfrm>
            <a:off x="3291840" y="3667316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Map Automation Script กับ Jira Story / Test Case</a:t>
            </a:r>
            <a:endParaRPr lang="en-US" sz="950" dirty="0"/>
          </a:p>
        </p:txBody>
      </p:sp>
      <p:sp>
        <p:nvSpPr>
          <p:cNvPr id="61" name="Shape 52"/>
          <p:cNvSpPr/>
          <p:nvPr/>
        </p:nvSpPr>
        <p:spPr>
          <a:xfrm>
            <a:off x="6784848" y="3722179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2" name="Shape 53"/>
          <p:cNvSpPr/>
          <p:nvPr/>
        </p:nvSpPr>
        <p:spPr>
          <a:xfrm>
            <a:off x="6858000" y="3757898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3" name="Text 54"/>
          <p:cNvSpPr/>
          <p:nvPr/>
        </p:nvSpPr>
        <p:spPr>
          <a:xfrm>
            <a:off x="6858000" y="375789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ชัด</a:t>
            </a:r>
            <a:endParaRPr lang="en-US" sz="850" dirty="0"/>
          </a:p>
        </p:txBody>
      </p:sp>
      <p:sp>
        <p:nvSpPr>
          <p:cNvPr id="64" name="Shape 55"/>
          <p:cNvSpPr/>
          <p:nvPr/>
        </p:nvSpPr>
        <p:spPr>
          <a:xfrm>
            <a:off x="73152" y="4141089"/>
            <a:ext cx="8997696" cy="492061"/>
          </a:xfrm>
          <a:prstGeom prst="rect">
            <a:avLst/>
          </a:prstGeom>
          <a:solidFill>
            <a:srgbClr val="101F30"/>
          </a:solidFill>
          <a:ln w="12700">
            <a:solidFill>
              <a:srgbClr val="101F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5" name="Shape 56"/>
          <p:cNvSpPr/>
          <p:nvPr/>
        </p:nvSpPr>
        <p:spPr>
          <a:xfrm>
            <a:off x="137160" y="4195096"/>
            <a:ext cx="384048" cy="384048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6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2024" y="4240816"/>
            <a:ext cx="274320" cy="274320"/>
          </a:xfrm>
          <a:prstGeom prst="rect">
            <a:avLst/>
          </a:prstGeom>
        </p:spPr>
      </p:pic>
      <p:sp>
        <p:nvSpPr>
          <p:cNvPr id="67" name="Text 57"/>
          <p:cNvSpPr/>
          <p:nvPr/>
        </p:nvSpPr>
        <p:spPr>
          <a:xfrm>
            <a:off x="594360" y="4159377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จัดการยาก</a:t>
            </a:r>
            <a:endParaRPr lang="en-US" sz="1000" dirty="0"/>
          </a:p>
        </p:txBody>
      </p:sp>
      <p:sp>
        <p:nvSpPr>
          <p:cNvPr id="68" name="Shape 58"/>
          <p:cNvSpPr/>
          <p:nvPr/>
        </p:nvSpPr>
        <p:spPr>
          <a:xfrm>
            <a:off x="3218688" y="4214241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9" name="Text 59"/>
          <p:cNvSpPr/>
          <p:nvPr/>
        </p:nvSpPr>
        <p:spPr>
          <a:xfrm>
            <a:off x="3291840" y="4159377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Suggest Test Data Requirement &amp; Variation</a:t>
            </a:r>
            <a:endParaRPr lang="en-US" sz="950" dirty="0"/>
          </a:p>
        </p:txBody>
      </p:sp>
      <p:sp>
        <p:nvSpPr>
          <p:cNvPr id="70" name="Shape 60"/>
          <p:cNvSpPr/>
          <p:nvPr/>
        </p:nvSpPr>
        <p:spPr>
          <a:xfrm>
            <a:off x="6784848" y="4214241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1" name="Shape 61"/>
          <p:cNvSpPr/>
          <p:nvPr/>
        </p:nvSpPr>
        <p:spPr>
          <a:xfrm>
            <a:off x="6858000" y="4249960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2" name="Text 62"/>
          <p:cNvSpPr/>
          <p:nvPr/>
        </p:nvSpPr>
        <p:spPr>
          <a:xfrm>
            <a:off x="6858000" y="4249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Run ผ่านทุกครั้ง</a:t>
            </a:r>
            <a:endParaRPr lang="en-US" sz="850" dirty="0"/>
          </a:p>
        </p:txBody>
      </p:sp>
      <p:sp>
        <p:nvSpPr>
          <p:cNvPr id="73" name="Shape 63"/>
          <p:cNvSpPr/>
          <p:nvPr/>
        </p:nvSpPr>
        <p:spPr>
          <a:xfrm>
            <a:off x="137160" y="4687157"/>
            <a:ext cx="384048" cy="384048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7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2024" y="4732877"/>
            <a:ext cx="274320" cy="274320"/>
          </a:xfrm>
          <a:prstGeom prst="rect">
            <a:avLst/>
          </a:prstGeom>
        </p:spPr>
      </p:pic>
      <p:sp>
        <p:nvSpPr>
          <p:cNvPr id="75" name="Text 64"/>
          <p:cNvSpPr/>
          <p:nvPr/>
        </p:nvSpPr>
        <p:spPr>
          <a:xfrm>
            <a:off x="594360" y="4651439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 แยกไม่ออก</a:t>
            </a:r>
            <a:endParaRPr lang="en-US" sz="1000" dirty="0"/>
          </a:p>
        </p:txBody>
      </p:sp>
      <p:sp>
        <p:nvSpPr>
          <p:cNvPr id="76" name="Shape 65"/>
          <p:cNvSpPr/>
          <p:nvPr/>
        </p:nvSpPr>
        <p:spPr>
          <a:xfrm>
            <a:off x="3218688" y="4706303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7" name="Text 66"/>
          <p:cNvSpPr/>
          <p:nvPr/>
        </p:nvSpPr>
        <p:spPr>
          <a:xfrm>
            <a:off x="3291840" y="4651439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Classify Failure Root Cause: Bug / Data / Env / Script</a:t>
            </a:r>
            <a:endParaRPr lang="en-US" sz="950" dirty="0"/>
          </a:p>
        </p:txBody>
      </p:sp>
      <p:sp>
        <p:nvSpPr>
          <p:cNvPr id="78" name="Shape 67"/>
          <p:cNvSpPr/>
          <p:nvPr/>
        </p:nvSpPr>
        <p:spPr>
          <a:xfrm>
            <a:off x="6784848" y="4706303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9" name="Shape 68"/>
          <p:cNvSpPr/>
          <p:nvPr/>
        </p:nvSpPr>
        <p:spPr>
          <a:xfrm>
            <a:off x="6858000" y="4742021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0" name="Text 69"/>
          <p:cNvSpPr/>
          <p:nvPr/>
        </p:nvSpPr>
        <p:spPr>
          <a:xfrm>
            <a:off x="6858000" y="474202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เร็วขึ้น 3×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228600" y="128016"/>
            <a:ext cx="594360" cy="594360"/>
          </a:xfrm>
          <a:prstGeom prst="ellipse">
            <a:avLst/>
          </a:prstGeom>
          <a:solidFill>
            <a:srgbClr val="22C55E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92024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731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60120" y="45720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  →  AI OPPORTUNITY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863840" y="2743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/>
          <p:nvPr/>
        </p:nvSpPr>
        <p:spPr>
          <a:xfrm>
            <a:off x="7863840" y="274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37160" y="868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246120" y="868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812280" y="868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9728" y="1161288"/>
            <a:ext cx="8924544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0"/>
          <p:cNvSpPr/>
          <p:nvPr/>
        </p:nvSpPr>
        <p:spPr>
          <a:xfrm>
            <a:off x="73152" y="1188720"/>
            <a:ext cx="8997696" cy="492061"/>
          </a:xfrm>
          <a:prstGeom prst="rect">
            <a:avLst/>
          </a:prstGeom>
          <a:solidFill>
            <a:srgbClr val="101F30"/>
          </a:solidFill>
          <a:ln w="12700">
            <a:solidFill>
              <a:srgbClr val="101F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1"/>
          <p:cNvSpPr/>
          <p:nvPr/>
        </p:nvSpPr>
        <p:spPr>
          <a:xfrm>
            <a:off x="137160" y="1242727"/>
            <a:ext cx="384048" cy="384048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" y="1288447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" y="1207008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 Workload ไม่แม่น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18688" y="1261872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4"/>
          <p:cNvSpPr/>
          <p:nvPr/>
        </p:nvSpPr>
        <p:spPr>
          <a:xfrm>
            <a:off x="3291840" y="1207008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สร้าง Workload Model จาก Business Flow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784848" y="1261872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6"/>
          <p:cNvSpPr/>
          <p:nvPr/>
        </p:nvSpPr>
        <p:spPr>
          <a:xfrm>
            <a:off x="6858000" y="1297591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7"/>
          <p:cNvSpPr/>
          <p:nvPr/>
        </p:nvSpPr>
        <p:spPr>
          <a:xfrm>
            <a:off x="6858000" y="129759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ตรงกับ Production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137160" y="1734788"/>
            <a:ext cx="384048" cy="384048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4" y="178050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94360" y="1699070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เริ่มช้า มักทำท้าย Project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218688" y="1753934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1"/>
          <p:cNvSpPr/>
          <p:nvPr/>
        </p:nvSpPr>
        <p:spPr>
          <a:xfrm>
            <a:off x="3291840" y="1699070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วิเคราะห์ Performance Risk ตั้งแต่ Requirement / Story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784848" y="1753934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Shape 23"/>
          <p:cNvSpPr/>
          <p:nvPr/>
        </p:nvSpPr>
        <p:spPr>
          <a:xfrm>
            <a:off x="6858000" y="1789652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4"/>
          <p:cNvSpPr/>
          <p:nvPr/>
        </p:nvSpPr>
        <p:spPr>
          <a:xfrm>
            <a:off x="6858000" y="17896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พบปัญหาก่อน Release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73152" y="2172843"/>
            <a:ext cx="8997696" cy="492061"/>
          </a:xfrm>
          <a:prstGeom prst="rect">
            <a:avLst/>
          </a:prstGeom>
          <a:solidFill>
            <a:srgbClr val="101F30"/>
          </a:solidFill>
          <a:ln w="12700">
            <a:solidFill>
              <a:srgbClr val="101F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6"/>
          <p:cNvSpPr/>
          <p:nvPr/>
        </p:nvSpPr>
        <p:spPr>
          <a:xfrm>
            <a:off x="137160" y="2226850"/>
            <a:ext cx="384048" cy="384048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" y="227257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94360" y="2191131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ใช้เวลาทำนาน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218688" y="2245995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29"/>
          <p:cNvSpPr/>
          <p:nvPr/>
        </p:nvSpPr>
        <p:spPr>
          <a:xfrm>
            <a:off x="3291840" y="2191131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Generate JMeter/k6/Gatling Script จาก API Spec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6784848" y="2245995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Shape 31"/>
          <p:cNvSpPr/>
          <p:nvPr/>
        </p:nvSpPr>
        <p:spPr>
          <a:xfrm>
            <a:off x="6858000" y="2281714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Text 32"/>
          <p:cNvSpPr/>
          <p:nvPr/>
        </p:nvSpPr>
        <p:spPr>
          <a:xfrm>
            <a:off x="6858000" y="228171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เร็วขึ้น 5×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137160" y="2718911"/>
            <a:ext cx="384048" cy="384048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024" y="2764631"/>
            <a:ext cx="274320" cy="2743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94360" y="2683193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วิเคราะห์ผลยาก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3218688" y="2738057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Text 36"/>
          <p:cNvSpPr/>
          <p:nvPr/>
        </p:nvSpPr>
        <p:spPr>
          <a:xfrm>
            <a:off x="3291840" y="2683193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วิเคราะห์ Result, Log &amp; APM Trace หา Root Cause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6784848" y="2738057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5" name="Shape 38"/>
          <p:cNvSpPr/>
          <p:nvPr/>
        </p:nvSpPr>
        <p:spPr>
          <a:xfrm>
            <a:off x="6858000" y="2773775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6" name="Text 39"/>
          <p:cNvSpPr/>
          <p:nvPr/>
        </p:nvSpPr>
        <p:spPr>
          <a:xfrm>
            <a:off x="6858000" y="2773775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ใน Minutes</a:t>
            </a:r>
            <a:endParaRPr lang="en-US" sz="850" dirty="0"/>
          </a:p>
        </p:txBody>
      </p:sp>
      <p:sp>
        <p:nvSpPr>
          <p:cNvPr id="47" name="Shape 40"/>
          <p:cNvSpPr/>
          <p:nvPr/>
        </p:nvSpPr>
        <p:spPr>
          <a:xfrm>
            <a:off x="73152" y="3156966"/>
            <a:ext cx="8997696" cy="492061"/>
          </a:xfrm>
          <a:prstGeom prst="rect">
            <a:avLst/>
          </a:prstGeom>
          <a:solidFill>
            <a:srgbClr val="101F30"/>
          </a:solidFill>
          <a:ln w="12700">
            <a:solidFill>
              <a:srgbClr val="101F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8" name="Shape 41"/>
          <p:cNvSpPr/>
          <p:nvPr/>
        </p:nvSpPr>
        <p:spPr>
          <a:xfrm>
            <a:off x="137160" y="3210973"/>
            <a:ext cx="384048" cy="384048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024" y="3256693"/>
            <a:ext cx="274320" cy="27432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594360" y="3175254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ไม่ชัด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3218688" y="3230118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2" name="Text 44"/>
          <p:cNvSpPr/>
          <p:nvPr/>
        </p:nvSpPr>
        <p:spPr>
          <a:xfrm>
            <a:off x="3291840" y="3175254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ทำ Bottleneck Hypothesis: App / DB / API / Infra</a:t>
            </a:r>
            <a:endParaRPr lang="en-US" sz="950" dirty="0"/>
          </a:p>
        </p:txBody>
      </p:sp>
      <p:sp>
        <p:nvSpPr>
          <p:cNvPr id="53" name="Shape 45"/>
          <p:cNvSpPr/>
          <p:nvPr/>
        </p:nvSpPr>
        <p:spPr>
          <a:xfrm>
            <a:off x="6784848" y="3230118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Shape 46"/>
          <p:cNvSpPr/>
          <p:nvPr/>
        </p:nvSpPr>
        <p:spPr>
          <a:xfrm>
            <a:off x="6858000" y="3265837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5" name="Text 47"/>
          <p:cNvSpPr/>
          <p:nvPr/>
        </p:nvSpPr>
        <p:spPr>
          <a:xfrm>
            <a:off x="6858000" y="3265837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ถูกจุด ถูกครั้งแรก</a:t>
            </a:r>
            <a:endParaRPr lang="en-US" sz="850" dirty="0"/>
          </a:p>
        </p:txBody>
      </p:sp>
      <p:sp>
        <p:nvSpPr>
          <p:cNvPr id="56" name="Shape 48"/>
          <p:cNvSpPr/>
          <p:nvPr/>
        </p:nvSpPr>
        <p:spPr>
          <a:xfrm>
            <a:off x="137160" y="3703034"/>
            <a:ext cx="384048" cy="384048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024" y="3748754"/>
            <a:ext cx="274320" cy="274320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594360" y="3667316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Defect เขียนยาก</a:t>
            </a:r>
            <a:endParaRPr lang="en-US" sz="1000" dirty="0"/>
          </a:p>
        </p:txBody>
      </p:sp>
      <p:sp>
        <p:nvSpPr>
          <p:cNvPr id="59" name="Shape 50"/>
          <p:cNvSpPr/>
          <p:nvPr/>
        </p:nvSpPr>
        <p:spPr>
          <a:xfrm>
            <a:off x="3218688" y="3722179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0" name="Text 51"/>
          <p:cNvSpPr/>
          <p:nvPr/>
        </p:nvSpPr>
        <p:spPr>
          <a:xfrm>
            <a:off x="3291840" y="3667316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สรุป Performance Defect พร้อม Evidence &amp; Graph</a:t>
            </a:r>
            <a:endParaRPr lang="en-US" sz="950" dirty="0"/>
          </a:p>
        </p:txBody>
      </p:sp>
      <p:sp>
        <p:nvSpPr>
          <p:cNvPr id="61" name="Shape 52"/>
          <p:cNvSpPr/>
          <p:nvPr/>
        </p:nvSpPr>
        <p:spPr>
          <a:xfrm>
            <a:off x="6784848" y="3722179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2" name="Shape 53"/>
          <p:cNvSpPr/>
          <p:nvPr/>
        </p:nvSpPr>
        <p:spPr>
          <a:xfrm>
            <a:off x="6858000" y="3757898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3" name="Text 54"/>
          <p:cNvSpPr/>
          <p:nvPr/>
        </p:nvSpPr>
        <p:spPr>
          <a:xfrm>
            <a:off x="6858000" y="375789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แก้ได้เลย</a:t>
            </a:r>
            <a:endParaRPr lang="en-US" sz="850" dirty="0"/>
          </a:p>
        </p:txBody>
      </p:sp>
      <p:sp>
        <p:nvSpPr>
          <p:cNvPr id="64" name="Shape 55"/>
          <p:cNvSpPr/>
          <p:nvPr/>
        </p:nvSpPr>
        <p:spPr>
          <a:xfrm>
            <a:off x="73152" y="4141089"/>
            <a:ext cx="8997696" cy="492061"/>
          </a:xfrm>
          <a:prstGeom prst="rect">
            <a:avLst/>
          </a:prstGeom>
          <a:solidFill>
            <a:srgbClr val="101F30"/>
          </a:solidFill>
          <a:ln w="12700">
            <a:solidFill>
              <a:srgbClr val="101F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5" name="Shape 56"/>
          <p:cNvSpPr/>
          <p:nvPr/>
        </p:nvSpPr>
        <p:spPr>
          <a:xfrm>
            <a:off x="137160" y="4195096"/>
            <a:ext cx="384048" cy="384048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6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2024" y="4240816"/>
            <a:ext cx="274320" cy="274320"/>
          </a:xfrm>
          <a:prstGeom prst="rect">
            <a:avLst/>
          </a:prstGeom>
        </p:spPr>
      </p:pic>
      <p:sp>
        <p:nvSpPr>
          <p:cNvPr id="67" name="Text 57"/>
          <p:cNvSpPr/>
          <p:nvPr/>
        </p:nvSpPr>
        <p:spPr>
          <a:xfrm>
            <a:off x="594360" y="4159377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SLA/SLO ไม่ชัด</a:t>
            </a:r>
            <a:endParaRPr lang="en-US" sz="1000" dirty="0"/>
          </a:p>
        </p:txBody>
      </p:sp>
      <p:sp>
        <p:nvSpPr>
          <p:cNvPr id="68" name="Shape 58"/>
          <p:cNvSpPr/>
          <p:nvPr/>
        </p:nvSpPr>
        <p:spPr>
          <a:xfrm>
            <a:off x="3218688" y="4214241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9" name="Text 59"/>
          <p:cNvSpPr/>
          <p:nvPr/>
        </p:nvSpPr>
        <p:spPr>
          <a:xfrm>
            <a:off x="3291840" y="4159377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ช่วย Define SLA/SLO Baseline ตาม Business Requirement</a:t>
            </a:r>
            <a:endParaRPr lang="en-US" sz="950" dirty="0"/>
          </a:p>
        </p:txBody>
      </p:sp>
      <p:sp>
        <p:nvSpPr>
          <p:cNvPr id="70" name="Shape 60"/>
          <p:cNvSpPr/>
          <p:nvPr/>
        </p:nvSpPr>
        <p:spPr>
          <a:xfrm>
            <a:off x="6784848" y="4214241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1" name="Shape 61"/>
          <p:cNvSpPr/>
          <p:nvPr/>
        </p:nvSpPr>
        <p:spPr>
          <a:xfrm>
            <a:off x="6858000" y="4249960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2" name="Text 62"/>
          <p:cNvSpPr/>
          <p:nvPr/>
        </p:nvSpPr>
        <p:spPr>
          <a:xfrm>
            <a:off x="6858000" y="4249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ชัดเจน</a:t>
            </a:r>
            <a:endParaRPr lang="en-US" sz="850" dirty="0"/>
          </a:p>
        </p:txBody>
      </p:sp>
      <p:sp>
        <p:nvSpPr>
          <p:cNvPr id="73" name="Shape 63"/>
          <p:cNvSpPr/>
          <p:nvPr/>
        </p:nvSpPr>
        <p:spPr>
          <a:xfrm>
            <a:off x="137160" y="4687157"/>
            <a:ext cx="384048" cy="384048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7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2024" y="4732877"/>
            <a:ext cx="274320" cy="274320"/>
          </a:xfrm>
          <a:prstGeom prst="rect">
            <a:avLst/>
          </a:prstGeom>
        </p:spPr>
      </p:pic>
      <p:sp>
        <p:nvSpPr>
          <p:cNvPr id="75" name="Text 64"/>
          <p:cNvSpPr/>
          <p:nvPr/>
        </p:nvSpPr>
        <p:spPr>
          <a:xfrm>
            <a:off x="594360" y="4651439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 ไม่ต่อเนื่อง</a:t>
            </a:r>
            <a:endParaRPr lang="en-US" sz="1000" dirty="0"/>
          </a:p>
        </p:txBody>
      </p:sp>
      <p:sp>
        <p:nvSpPr>
          <p:cNvPr id="76" name="Shape 65"/>
          <p:cNvSpPr/>
          <p:nvPr/>
        </p:nvSpPr>
        <p:spPr>
          <a:xfrm>
            <a:off x="3218688" y="4706303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7" name="Text 66"/>
          <p:cNvSpPr/>
          <p:nvPr/>
        </p:nvSpPr>
        <p:spPr>
          <a:xfrm>
            <a:off x="3291840" y="4651439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ทำ Capacity Recommendation จาก Test Data</a:t>
            </a:r>
            <a:endParaRPr lang="en-US" sz="950" dirty="0"/>
          </a:p>
        </p:txBody>
      </p:sp>
      <p:sp>
        <p:nvSpPr>
          <p:cNvPr id="78" name="Shape 67"/>
          <p:cNvSpPr/>
          <p:nvPr/>
        </p:nvSpPr>
        <p:spPr>
          <a:xfrm>
            <a:off x="6784848" y="4706303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9" name="Shape 68"/>
          <p:cNvSpPr/>
          <p:nvPr/>
        </p:nvSpPr>
        <p:spPr>
          <a:xfrm>
            <a:off x="6858000" y="4742021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0" name="Text 69"/>
          <p:cNvSpPr/>
          <p:nvPr/>
        </p:nvSpPr>
        <p:spPr>
          <a:xfrm>
            <a:off x="6858000" y="474202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พร้อมรับ Load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228600" y="128016"/>
            <a:ext cx="594360" cy="594360"/>
          </a:xfrm>
          <a:prstGeom prst="ellipse">
            <a:avLst/>
          </a:prstGeom>
          <a:solidFill>
            <a:srgbClr val="F43F5E">
              <a:alpha val="75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92024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731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 · OWASP TOP 10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60120" y="45720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  →  AI OPPORTUNITY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863840" y="2743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/>
          <p:nvPr/>
        </p:nvSpPr>
        <p:spPr>
          <a:xfrm>
            <a:off x="7863840" y="274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37160" y="868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246120" y="868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812280" y="868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9728" y="1161288"/>
            <a:ext cx="8924544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0"/>
          <p:cNvSpPr/>
          <p:nvPr/>
        </p:nvSpPr>
        <p:spPr>
          <a:xfrm>
            <a:off x="73152" y="1188720"/>
            <a:ext cx="8997696" cy="492061"/>
          </a:xfrm>
          <a:prstGeom prst="rect">
            <a:avLst/>
          </a:prstGeom>
          <a:solidFill>
            <a:srgbClr val="101F30"/>
          </a:solidFill>
          <a:ln w="12700">
            <a:solidFill>
              <a:srgbClr val="101F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1"/>
          <p:cNvSpPr/>
          <p:nvPr/>
        </p:nvSpPr>
        <p:spPr>
          <a:xfrm>
            <a:off x="137160" y="1242727"/>
            <a:ext cx="384048" cy="384048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" y="1288447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" y="1207008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ไม่รู้จะ Test Security อะไร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18688" y="1261872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4"/>
          <p:cNvSpPr/>
          <p:nvPr/>
        </p:nvSpPr>
        <p:spPr>
          <a:xfrm>
            <a:off x="3291840" y="1207008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Generate Security Test Case ตาม OWASP Top 10 ทุก Feature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784848" y="1261872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6"/>
          <p:cNvSpPr/>
          <p:nvPr/>
        </p:nvSpPr>
        <p:spPr>
          <a:xfrm>
            <a:off x="6858000" y="1297591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7"/>
          <p:cNvSpPr/>
          <p:nvPr/>
        </p:nvSpPr>
        <p:spPr>
          <a:xfrm>
            <a:off x="6858000" y="129759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ครบทุก Risk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137160" y="1734788"/>
            <a:ext cx="384048" cy="384048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4" y="178050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94360" y="1699070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 เริ่มช้า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218688" y="1753934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1"/>
          <p:cNvSpPr/>
          <p:nvPr/>
        </p:nvSpPr>
        <p:spPr>
          <a:xfrm>
            <a:off x="3291840" y="1699070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วิเคราะห์ Security Risk ตั้งแต่ Jira Story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784848" y="1753934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Shape 23"/>
          <p:cNvSpPr/>
          <p:nvPr/>
        </p:nvSpPr>
        <p:spPr>
          <a:xfrm>
            <a:off x="6858000" y="1789652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4"/>
          <p:cNvSpPr/>
          <p:nvPr/>
        </p:nvSpPr>
        <p:spPr>
          <a:xfrm>
            <a:off x="6858000" y="17896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Security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73152" y="2172843"/>
            <a:ext cx="8997696" cy="492061"/>
          </a:xfrm>
          <a:prstGeom prst="rect">
            <a:avLst/>
          </a:prstGeom>
          <a:solidFill>
            <a:srgbClr val="101F30"/>
          </a:solidFill>
          <a:ln w="12700">
            <a:solidFill>
              <a:srgbClr val="101F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6"/>
          <p:cNvSpPr/>
          <p:nvPr/>
        </p:nvSpPr>
        <p:spPr>
          <a:xfrm>
            <a:off x="137160" y="2226850"/>
            <a:ext cx="384048" cy="384048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" y="227257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94360" y="2191131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ไม่ถูกแปลงเป็น Test Case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218688" y="2245995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29"/>
          <p:cNvSpPr/>
          <p:nvPr/>
        </p:nvSpPr>
        <p:spPr>
          <a:xfrm>
            <a:off x="3291840" y="2191131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Map Story / API / Screen ไปยัง OWASP Risk อัตโนมัติ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6784848" y="2245995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Shape 31"/>
          <p:cNvSpPr/>
          <p:nvPr/>
        </p:nvSpPr>
        <p:spPr>
          <a:xfrm>
            <a:off x="6858000" y="2281714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Text 32"/>
          <p:cNvSpPr/>
          <p:nvPr/>
        </p:nvSpPr>
        <p:spPr>
          <a:xfrm>
            <a:off x="6858000" y="228171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ไม่พลาด OWASP Category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137160" y="2718911"/>
            <a:ext cx="384048" cy="384048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024" y="2764631"/>
            <a:ext cx="274320" cy="2743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94360" y="2683193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/ Permission หลุด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3218688" y="2738057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Text 36"/>
          <p:cNvSpPr/>
          <p:nvPr/>
        </p:nvSpPr>
        <p:spPr>
          <a:xfrm>
            <a:off x="3291840" y="2683193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Generate Role-Based Access Test Matrix ครบทุก Role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6784848" y="2738057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5" name="Shape 38"/>
          <p:cNvSpPr/>
          <p:nvPr/>
        </p:nvSpPr>
        <p:spPr>
          <a:xfrm>
            <a:off x="6858000" y="2773775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6" name="Text 39"/>
          <p:cNvSpPr/>
          <p:nvPr/>
        </p:nvSpPr>
        <p:spPr>
          <a:xfrm>
            <a:off x="6858000" y="2773775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 Access Control Bug</a:t>
            </a:r>
            <a:endParaRPr lang="en-US" sz="850" dirty="0"/>
          </a:p>
        </p:txBody>
      </p:sp>
      <p:sp>
        <p:nvSpPr>
          <p:cNvPr id="47" name="Shape 40"/>
          <p:cNvSpPr/>
          <p:nvPr/>
        </p:nvSpPr>
        <p:spPr>
          <a:xfrm>
            <a:off x="73152" y="3156966"/>
            <a:ext cx="8997696" cy="492061"/>
          </a:xfrm>
          <a:prstGeom prst="rect">
            <a:avLst/>
          </a:prstGeom>
          <a:solidFill>
            <a:srgbClr val="101F30"/>
          </a:solidFill>
          <a:ln w="12700">
            <a:solidFill>
              <a:srgbClr val="101F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8" name="Shape 41"/>
          <p:cNvSpPr/>
          <p:nvPr/>
        </p:nvSpPr>
        <p:spPr>
          <a:xfrm>
            <a:off x="137160" y="3210973"/>
            <a:ext cx="384048" cy="384048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024" y="3256693"/>
            <a:ext cx="274320" cy="27432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594360" y="3175254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 Result เยอะเกิน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3218688" y="3230118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2" name="Text 44"/>
          <p:cNvSpPr/>
          <p:nvPr/>
        </p:nvSpPr>
        <p:spPr>
          <a:xfrm>
            <a:off x="3291840" y="3175254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Triage Vulnerability Result: Priority &amp; False Positive</a:t>
            </a:r>
            <a:endParaRPr lang="en-US" sz="950" dirty="0"/>
          </a:p>
        </p:txBody>
      </p:sp>
      <p:sp>
        <p:nvSpPr>
          <p:cNvPr id="53" name="Shape 45"/>
          <p:cNvSpPr/>
          <p:nvPr/>
        </p:nvSpPr>
        <p:spPr>
          <a:xfrm>
            <a:off x="6784848" y="3230118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Shape 46"/>
          <p:cNvSpPr/>
          <p:nvPr/>
        </p:nvSpPr>
        <p:spPr>
          <a:xfrm>
            <a:off x="6858000" y="3265837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5" name="Text 47"/>
          <p:cNvSpPr/>
          <p:nvPr/>
        </p:nvSpPr>
        <p:spPr>
          <a:xfrm>
            <a:off x="6858000" y="3265837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เฉพาะ Critical</a:t>
            </a:r>
            <a:endParaRPr lang="en-US" sz="850" dirty="0"/>
          </a:p>
        </p:txBody>
      </p:sp>
      <p:sp>
        <p:nvSpPr>
          <p:cNvPr id="56" name="Shape 48"/>
          <p:cNvSpPr/>
          <p:nvPr/>
        </p:nvSpPr>
        <p:spPr>
          <a:xfrm>
            <a:off x="137160" y="3703034"/>
            <a:ext cx="384048" cy="384048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024" y="3748754"/>
            <a:ext cx="274320" cy="274320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594360" y="3667316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Defect เขียนไม่ครบ</a:t>
            </a:r>
            <a:endParaRPr lang="en-US" sz="1000" dirty="0"/>
          </a:p>
        </p:txBody>
      </p:sp>
      <p:sp>
        <p:nvSpPr>
          <p:cNvPr id="59" name="Shape 50"/>
          <p:cNvSpPr/>
          <p:nvPr/>
        </p:nvSpPr>
        <p:spPr>
          <a:xfrm>
            <a:off x="3218688" y="3722179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0" name="Text 51"/>
          <p:cNvSpPr/>
          <p:nvPr/>
        </p:nvSpPr>
        <p:spPr>
          <a:xfrm>
            <a:off x="3291840" y="3667316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Draft Security Defect Report + Impact + Evidence</a:t>
            </a:r>
            <a:endParaRPr lang="en-US" sz="950" dirty="0"/>
          </a:p>
        </p:txBody>
      </p:sp>
      <p:sp>
        <p:nvSpPr>
          <p:cNvPr id="61" name="Shape 52"/>
          <p:cNvSpPr/>
          <p:nvPr/>
        </p:nvSpPr>
        <p:spPr>
          <a:xfrm>
            <a:off x="6784848" y="3722179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2" name="Shape 53"/>
          <p:cNvSpPr/>
          <p:nvPr/>
        </p:nvSpPr>
        <p:spPr>
          <a:xfrm>
            <a:off x="6858000" y="3757898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3" name="Text 54"/>
          <p:cNvSpPr/>
          <p:nvPr/>
        </p:nvSpPr>
        <p:spPr>
          <a:xfrm>
            <a:off x="6858000" y="375789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Ready</a:t>
            </a:r>
            <a:endParaRPr lang="en-US" sz="850" dirty="0"/>
          </a:p>
        </p:txBody>
      </p:sp>
      <p:sp>
        <p:nvSpPr>
          <p:cNvPr id="64" name="Shape 55"/>
          <p:cNvSpPr/>
          <p:nvPr/>
        </p:nvSpPr>
        <p:spPr>
          <a:xfrm>
            <a:off x="73152" y="4141089"/>
            <a:ext cx="8997696" cy="492061"/>
          </a:xfrm>
          <a:prstGeom prst="rect">
            <a:avLst/>
          </a:prstGeom>
          <a:solidFill>
            <a:srgbClr val="101F30"/>
          </a:solidFill>
          <a:ln w="12700">
            <a:solidFill>
              <a:srgbClr val="101F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5" name="Shape 56"/>
          <p:cNvSpPr/>
          <p:nvPr/>
        </p:nvSpPr>
        <p:spPr>
          <a:xfrm>
            <a:off x="137160" y="4195096"/>
            <a:ext cx="384048" cy="384048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6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2024" y="4240816"/>
            <a:ext cx="274320" cy="274320"/>
          </a:xfrm>
          <a:prstGeom prst="rect">
            <a:avLst/>
          </a:prstGeom>
        </p:spPr>
      </p:pic>
      <p:sp>
        <p:nvSpPr>
          <p:cNvPr id="67" name="Text 57"/>
          <p:cNvSpPr/>
          <p:nvPr/>
        </p:nvSpPr>
        <p:spPr>
          <a:xfrm>
            <a:off x="594360" y="4159377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 ถูกละเลย</a:t>
            </a:r>
            <a:endParaRPr lang="en-US" sz="1000" dirty="0"/>
          </a:p>
        </p:txBody>
      </p:sp>
      <p:sp>
        <p:nvSpPr>
          <p:cNvPr id="68" name="Shape 58"/>
          <p:cNvSpPr/>
          <p:nvPr/>
        </p:nvSpPr>
        <p:spPr>
          <a:xfrm>
            <a:off x="3218688" y="4214241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9" name="Text 59"/>
          <p:cNvSpPr/>
          <p:nvPr/>
        </p:nvSpPr>
        <p:spPr>
          <a:xfrm>
            <a:off x="3291840" y="4159377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Generate API Security Checklist: Broken Access, Injection, Auth</a:t>
            </a:r>
            <a:endParaRPr lang="en-US" sz="950" dirty="0"/>
          </a:p>
        </p:txBody>
      </p:sp>
      <p:sp>
        <p:nvSpPr>
          <p:cNvPr id="70" name="Shape 60"/>
          <p:cNvSpPr/>
          <p:nvPr/>
        </p:nvSpPr>
        <p:spPr>
          <a:xfrm>
            <a:off x="6784848" y="4214241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1" name="Shape 61"/>
          <p:cNvSpPr/>
          <p:nvPr/>
        </p:nvSpPr>
        <p:spPr>
          <a:xfrm>
            <a:off x="6858000" y="4249960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2" name="Text 62"/>
          <p:cNvSpPr/>
          <p:nvPr/>
        </p:nvSpPr>
        <p:spPr>
          <a:xfrm>
            <a:off x="6858000" y="4249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ครอบคลุม Backend Risk</a:t>
            </a:r>
            <a:endParaRPr lang="en-US" sz="850" dirty="0"/>
          </a:p>
        </p:txBody>
      </p:sp>
      <p:sp>
        <p:nvSpPr>
          <p:cNvPr id="73" name="Shape 63"/>
          <p:cNvSpPr/>
          <p:nvPr/>
        </p:nvSpPr>
        <p:spPr>
          <a:xfrm>
            <a:off x="137160" y="4687157"/>
            <a:ext cx="384048" cy="384048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7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2024" y="4732877"/>
            <a:ext cx="274320" cy="274320"/>
          </a:xfrm>
          <a:prstGeom prst="rect">
            <a:avLst/>
          </a:prstGeom>
        </p:spPr>
      </p:pic>
      <p:sp>
        <p:nvSpPr>
          <p:cNvPr id="75" name="Text 64"/>
          <p:cNvSpPr/>
          <p:nvPr/>
        </p:nvSpPr>
        <p:spPr>
          <a:xfrm>
            <a:off x="594360" y="4651439"/>
            <a:ext cx="265176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Evidence ไม่พร้อม Audit</a:t>
            </a:r>
            <a:endParaRPr lang="en-US" sz="1000" dirty="0"/>
          </a:p>
        </p:txBody>
      </p:sp>
      <p:sp>
        <p:nvSpPr>
          <p:cNvPr id="76" name="Shape 65"/>
          <p:cNvSpPr/>
          <p:nvPr/>
        </p:nvSpPr>
        <p:spPr>
          <a:xfrm>
            <a:off x="3218688" y="4706303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7" name="Text 66"/>
          <p:cNvSpPr/>
          <p:nvPr/>
        </p:nvSpPr>
        <p:spPr>
          <a:xfrm>
            <a:off x="3291840" y="4651439"/>
            <a:ext cx="3383280" cy="45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สร้าง OWASP Coverage Dashboard + Traceability</a:t>
            </a:r>
            <a:endParaRPr lang="en-US" sz="950" dirty="0"/>
          </a:p>
        </p:txBody>
      </p:sp>
      <p:sp>
        <p:nvSpPr>
          <p:cNvPr id="78" name="Shape 67"/>
          <p:cNvSpPr/>
          <p:nvPr/>
        </p:nvSpPr>
        <p:spPr>
          <a:xfrm>
            <a:off x="6784848" y="4706303"/>
            <a:ext cx="0" cy="364045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9" name="Shape 68"/>
          <p:cNvSpPr/>
          <p:nvPr/>
        </p:nvSpPr>
        <p:spPr>
          <a:xfrm>
            <a:off x="6858000" y="4742021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0" name="Text 69"/>
          <p:cNvSpPr/>
          <p:nvPr/>
        </p:nvSpPr>
        <p:spPr>
          <a:xfrm>
            <a:off x="6858000" y="474202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Compliance Audit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20040" y="13716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 ·  ROADMAP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Roadmap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743200" cy="3858768"/>
          </a:xfrm>
          <a:prstGeom prst="roundRect">
            <a:avLst>
              <a:gd name="adj" fmla="val 4000"/>
            </a:avLst>
          </a:prstGeom>
          <a:solidFill>
            <a:srgbClr val="132233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256032" y="1645920"/>
            <a:ext cx="2743200" cy="36576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93192" y="1161288"/>
            <a:ext cx="621792" cy="621792"/>
          </a:xfrm>
          <a:prstGeom prst="ellipse">
            <a:avLst/>
          </a:prstGeom>
          <a:solidFill>
            <a:srgbClr val="13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6152"/>
            <a:ext cx="493776" cy="4937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24712" y="117043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24712" y="15361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</a:t>
            </a:r>
            <a:r>
              <a:rPr lang="th-TH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เดือน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2084832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Repackage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93192" y="2880360"/>
            <a:ext cx="2468880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2"/>
          <p:cNvSpPr/>
          <p:nvPr/>
        </p:nvSpPr>
        <p:spPr>
          <a:xfrm>
            <a:off x="402336" y="309067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3"/>
          <p:cNvSpPr/>
          <p:nvPr/>
        </p:nvSpPr>
        <p:spPr>
          <a:xfrm>
            <a:off x="566928" y="29718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 ทีม QA → AI-Ready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02336" y="363931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5"/>
          <p:cNvSpPr/>
          <p:nvPr/>
        </p:nvSpPr>
        <p:spPr>
          <a:xfrm>
            <a:off x="566928" y="35204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 AI QA Service Package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02336" y="418795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7"/>
          <p:cNvSpPr/>
          <p:nvPr/>
        </p:nvSpPr>
        <p:spPr>
          <a:xfrm>
            <a:off x="566928" y="40690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ให้ลูกค้าเห็น Value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017520" y="270662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3218688" y="1005840"/>
            <a:ext cx="2743200" cy="3858768"/>
          </a:xfrm>
          <a:prstGeom prst="roundRect">
            <a:avLst>
              <a:gd name="adj" fmla="val 4000"/>
            </a:avLst>
          </a:prstGeom>
          <a:solidFill>
            <a:srgbClr val="132233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3" name="Shape 20"/>
          <p:cNvSpPr/>
          <p:nvPr/>
        </p:nvSpPr>
        <p:spPr>
          <a:xfrm>
            <a:off x="3218688" y="10058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Shape 21"/>
          <p:cNvSpPr/>
          <p:nvPr/>
        </p:nvSpPr>
        <p:spPr>
          <a:xfrm>
            <a:off x="3218688" y="1645920"/>
            <a:ext cx="2743200" cy="36576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2"/>
          <p:cNvSpPr/>
          <p:nvPr/>
        </p:nvSpPr>
        <p:spPr>
          <a:xfrm>
            <a:off x="3355848" y="1161288"/>
            <a:ext cx="621792" cy="621792"/>
          </a:xfrm>
          <a:prstGeom prst="ellipse">
            <a:avLst/>
          </a:prstGeom>
          <a:solidFill>
            <a:srgbClr val="1322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56" y="1216152"/>
            <a:ext cx="493776" cy="49377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087368" y="117043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4087368" y="15361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th-TH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เดือน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3328416" y="2084832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3355848" y="2880360"/>
            <a:ext cx="2468880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7"/>
          <p:cNvSpPr/>
          <p:nvPr/>
        </p:nvSpPr>
        <p:spPr>
          <a:xfrm>
            <a:off x="3364992" y="30906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28"/>
          <p:cNvSpPr/>
          <p:nvPr/>
        </p:nvSpPr>
        <p:spPr>
          <a:xfrm>
            <a:off x="3529584" y="29718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AI QA Managed Service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3364992" y="363931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Text 30"/>
          <p:cNvSpPr/>
          <p:nvPr/>
        </p:nvSpPr>
        <p:spPr>
          <a:xfrm>
            <a:off x="3529584" y="35204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AI Pilot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กับลูกค้า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h-TH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จริง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3364992" y="418795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Text 32"/>
          <p:cNvSpPr/>
          <p:nvPr/>
        </p:nvSpPr>
        <p:spPr>
          <a:xfrm>
            <a:off x="3529584" y="40690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วัด Productivity Gain จริง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5980176" y="270662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4"/>
          <p:cNvSpPr/>
          <p:nvPr/>
        </p:nvSpPr>
        <p:spPr>
          <a:xfrm>
            <a:off x="6181344" y="1005840"/>
            <a:ext cx="2743200" cy="3858768"/>
          </a:xfrm>
          <a:prstGeom prst="roundRect">
            <a:avLst>
              <a:gd name="adj" fmla="val 4000"/>
            </a:avLst>
          </a:prstGeom>
          <a:solidFill>
            <a:srgbClr val="132233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9" name="Shape 35"/>
          <p:cNvSpPr/>
          <p:nvPr/>
        </p:nvSpPr>
        <p:spPr>
          <a:xfrm>
            <a:off x="6181344" y="10058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0" name="Shape 36"/>
          <p:cNvSpPr/>
          <p:nvPr/>
        </p:nvSpPr>
        <p:spPr>
          <a:xfrm>
            <a:off x="6181344" y="1645920"/>
            <a:ext cx="2743200" cy="365760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Shape 37"/>
          <p:cNvSpPr/>
          <p:nvPr/>
        </p:nvSpPr>
        <p:spPr>
          <a:xfrm>
            <a:off x="6318504" y="1161288"/>
            <a:ext cx="621792" cy="621792"/>
          </a:xfrm>
          <a:prstGeom prst="ellipse">
            <a:avLst/>
          </a:prstGeom>
          <a:solidFill>
            <a:srgbClr val="132233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216152"/>
            <a:ext cx="493776" cy="493776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7050024" y="117043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600" dirty="0"/>
          </a:p>
        </p:txBody>
      </p:sp>
      <p:sp>
        <p:nvSpPr>
          <p:cNvPr id="44" name="Text 39"/>
          <p:cNvSpPr/>
          <p:nvPr/>
        </p:nvSpPr>
        <p:spPr>
          <a:xfrm>
            <a:off x="7050024" y="15361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</a:t>
            </a:r>
            <a:r>
              <a:rPr lang="th-TH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เดือน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6291072" y="2084832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IP</a:t>
            </a:r>
            <a:endParaRPr lang="en-US" sz="1800" dirty="0"/>
          </a:p>
        </p:txBody>
      </p:sp>
      <p:sp>
        <p:nvSpPr>
          <p:cNvPr id="46" name="Shape 41"/>
          <p:cNvSpPr/>
          <p:nvPr/>
        </p:nvSpPr>
        <p:spPr>
          <a:xfrm>
            <a:off x="6318504" y="2880360"/>
            <a:ext cx="2468880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7" name="Shape 42"/>
          <p:cNvSpPr/>
          <p:nvPr/>
        </p:nvSpPr>
        <p:spPr>
          <a:xfrm>
            <a:off x="6327648" y="309067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8" name="Text 43"/>
          <p:cNvSpPr/>
          <p:nvPr/>
        </p:nvSpPr>
        <p:spPr>
          <a:xfrm>
            <a:off x="6492240" y="29718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QA Tool: Banking/Insurance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6327648" y="363931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0" name="Text 45"/>
          <p:cNvSpPr/>
          <p:nvPr/>
        </p:nvSpPr>
        <p:spPr>
          <a:xfrm>
            <a:off x="6492240" y="35204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Release Risk Dashboard</a:t>
            </a:r>
            <a:endParaRPr lang="en-US" sz="1050" dirty="0"/>
          </a:p>
        </p:txBody>
      </p:sp>
      <p:sp>
        <p:nvSpPr>
          <p:cNvPr id="51" name="Shape 46"/>
          <p:cNvSpPr/>
          <p:nvPr/>
        </p:nvSpPr>
        <p:spPr>
          <a:xfrm>
            <a:off x="6327648" y="418795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2" name="Text 47"/>
          <p:cNvSpPr/>
          <p:nvPr/>
        </p:nvSpPr>
        <p:spPr>
          <a:xfrm>
            <a:off x="6492240" y="40690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ขาย IP ให้ลูกค้า Regulated</a:t>
            </a:r>
            <a:endParaRPr lang="en-US" sz="1050" dirty="0"/>
          </a:p>
        </p:txBody>
      </p:sp>
      <p:sp>
        <p:nvSpPr>
          <p:cNvPr id="53" name="Shape 48"/>
          <p:cNvSpPr/>
          <p:nvPr/>
        </p:nvSpPr>
        <p:spPr>
          <a:xfrm>
            <a:off x="256032" y="4919472"/>
            <a:ext cx="8631936" cy="10972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Shape 49"/>
          <p:cNvSpPr/>
          <p:nvPr/>
        </p:nvSpPr>
        <p:spPr>
          <a:xfrm>
            <a:off x="256032" y="4800600"/>
            <a:ext cx="8631936" cy="274320"/>
          </a:xfrm>
          <a:prstGeom prst="roundRect">
            <a:avLst>
              <a:gd name="adj" fmla="val 20000"/>
            </a:avLst>
          </a:prstGeom>
          <a:solidFill>
            <a:srgbClr val="132233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5" name="Text 50"/>
          <p:cNvSpPr/>
          <p:nvPr/>
        </p:nvSpPr>
        <p:spPr>
          <a:xfrm>
            <a:off x="256032" y="480060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AI-Enabled Quality Operating Partner  |  Regulated Industries  |  EXTOSOFT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1251</Words>
  <Application>Microsoft Macintosh PowerPoint</Application>
  <PresentationFormat>On-screen Show (16:9)</PresentationFormat>
  <Paragraphs>232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Extosoft QA Transformation 2026</dc:title>
  <dc:subject>PptxGenJS Presentation</dc:subject>
  <dc:creator>PptxGenJS</dc:creator>
  <cp:lastModifiedBy>Supakorn Somthong</cp:lastModifiedBy>
  <cp:revision>4</cp:revision>
  <dcterms:created xsi:type="dcterms:W3CDTF">2026-06-29T06:31:45Z</dcterms:created>
  <dcterms:modified xsi:type="dcterms:W3CDTF">2026-06-30T04:49:25Z</dcterms:modified>
</cp:coreProperties>
</file>